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5A24"/>
          </a:solidFill>
          <a:ln w="12700">
            <a:solidFill>
              <a:srgbClr val="F0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201168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RITECH  /  CALIDAD DE SOFTWARE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38912" y="6473952"/>
            <a:ext cx="11064240" cy="0"/>
          </a:xfrm>
          <a:prstGeom prst="line">
            <a:avLst/>
          </a:prstGeom>
          <a:noFill/>
          <a:ln w="10160">
            <a:solidFill>
              <a:srgbClr val="D6DE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547104"/>
            <a:ext cx="6035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RiTech Export Desk  ·  27 sep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B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05A24"/>
          </a:solidFill>
          <a:ln w="12700">
            <a:solidFill>
              <a:srgbClr val="F05A2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80" kern="0" dirty="0">
                <a:solidFill>
                  <a:srgbClr val="A9C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RITECH  /  EXPORT 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85800" y="1261872"/>
            <a:ext cx="6583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b="1" spc="-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lote.</a:t>
            </a:r>
            <a:endParaRPr lang="en-US" sz="3200" dirty="0"/>
          </a:p>
          <a:p>
            <a:pPr indent="0" marL="0">
              <a:buNone/>
            </a:pPr>
            <a:r>
              <a:rPr lang="en-US" sz="3200" b="1" spc="-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recorrido.</a:t>
            </a:r>
            <a:endParaRPr lang="en-US" sz="3200" dirty="0"/>
          </a:p>
          <a:p>
            <a:pPr indent="0" marL="0">
              <a:buNone/>
            </a:pPr>
            <a:r>
              <a:rPr lang="en-US" sz="3200" b="1" spc="-7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historia verificable.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22376" y="3657600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D6E3F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 · modelo de datos · pruebas · demostración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22376" y="42336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FC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  ·  15 historias seleccionadas  ·  27 sep 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66760" y="1261872"/>
            <a:ext cx="2468880" cy="3611880"/>
          </a:xfrm>
          <a:prstGeom prst="roundRect">
            <a:avLst>
              <a:gd name="adj" fmla="val 6667"/>
            </a:avLst>
          </a:prstGeom>
          <a:solidFill>
            <a:srgbClr val="183A5C"/>
          </a:solidFill>
          <a:ln w="12700">
            <a:solidFill>
              <a:srgbClr val="5470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41080" y="15819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30" kern="0" dirty="0">
                <a:solidFill>
                  <a:srgbClr val="A9C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MANIFIESTO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41080" y="22677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COLOMBIA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4108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UNIÓN EUROPEA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732520" y="3017520"/>
            <a:ext cx="1709928" cy="0"/>
          </a:xfrm>
          <a:prstGeom prst="line">
            <a:avLst/>
          </a:prstGeom>
          <a:noFill/>
          <a:ln w="25400">
            <a:solidFill>
              <a:srgbClr val="7C9FC5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41080" y="2926080"/>
            <a:ext cx="182880" cy="182880"/>
          </a:xfrm>
          <a:prstGeom prst="ellipse">
            <a:avLst/>
          </a:prstGeom>
          <a:solidFill>
            <a:srgbClr val="A9C5EF"/>
          </a:solidFill>
          <a:ln w="12700">
            <a:solidFill>
              <a:srgbClr val="A9C5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78440" y="2926080"/>
            <a:ext cx="182880" cy="182880"/>
          </a:xfrm>
          <a:prstGeom prst="ellipse">
            <a:avLst/>
          </a:prstGeom>
          <a:solidFill>
            <a:srgbClr val="F05A24"/>
          </a:solidFill>
          <a:ln w="12700">
            <a:solidFill>
              <a:srgbClr val="F05A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22376" y="58978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FC0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máxima: 10 minutos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46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historias, un expediente operativo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94360" y="1572768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572768"/>
            <a:ext cx="64008" cy="1417320"/>
          </a:xfrm>
          <a:prstGeom prst="rect">
            <a:avLst/>
          </a:prstGeom>
          <a:solidFill>
            <a:srgbClr val="3465E9"/>
          </a:solidFill>
          <a:ln w="12700">
            <a:solidFill>
              <a:srgbClr val="3465E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70078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Acceso  ·  RTE-10 · RTE-11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Usuarios, roles y sesión segura.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572768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572768"/>
            <a:ext cx="64008" cy="1417320"/>
          </a:xfrm>
          <a:prstGeom prst="rect">
            <a:avLst/>
          </a:prstGeom>
          <a:solidFill>
            <a:srgbClr val="1C6B4A"/>
          </a:solidFill>
          <a:ln w="12700">
            <a:solidFill>
              <a:srgbClr val="1C6B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70078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  ·  RTE-15 · RTE-16 · RTE-17 · RTE-18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2628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Productos, lotes, certificados e inventario.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92440" y="1572768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572768"/>
            <a:ext cx="64008" cy="1417320"/>
          </a:xfrm>
          <a:prstGeom prst="rect">
            <a:avLst/>
          </a:prstGeom>
          <a:solidFill>
            <a:srgbClr val="F05A24"/>
          </a:solidFill>
          <a:ln w="12700">
            <a:solidFill>
              <a:srgbClr val="F05A24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70078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Clientes  ·  RTE-20 · RTE-21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7532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Directorio europeo y contactos.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3401568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3401568"/>
            <a:ext cx="64008" cy="1417320"/>
          </a:xfrm>
          <a:prstGeom prst="rect">
            <a:avLst/>
          </a:prstGeom>
          <a:solidFill>
            <a:srgbClr val="3465E9"/>
          </a:solidFill>
          <a:ln w="12700">
            <a:solidFill>
              <a:srgbClr val="3465E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52958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Pedidos  ·  RTE-24 · RTE-25 · RTE-26 · RTE-28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Contrato, lote, aprobación y proforma.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43400" y="3401568"/>
            <a:ext cx="33832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43400" y="3401568"/>
            <a:ext cx="64008" cy="1417320"/>
          </a:xfrm>
          <a:prstGeom prst="rect">
            <a:avLst/>
          </a:prstGeom>
          <a:solidFill>
            <a:srgbClr val="1C6B4A"/>
          </a:solidFill>
          <a:ln w="12700">
            <a:solidFill>
              <a:srgbClr val="1C6B4A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3529584"/>
            <a:ext cx="3035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  ·  RTE-30 · RTE-31 · RTE-32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26280" y="3886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Packing list y certificados de exportación.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897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local independiente: ritech_sprint2  ·  datos seed sintéticos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46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Actores y casos de uso</a:t>
            </a:r>
            <a:endParaRPr lang="en-US" sz="2500" dirty="0"/>
          </a:p>
        </p:txBody>
      </p:sp>
      <p:pic>
        <p:nvPicPr>
          <p:cNvPr id="4" name="Image 0" descr="/Users/jhon/Documents/PROYECTO CALIDAD DE SOFTWARE/CALIDAD/Sprint-2/diagramas/casos-de-u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3070" y="1371600"/>
            <a:ext cx="6806821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9618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es interna; el comprador consulta los documentos asociados.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46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de datos relacional</a:t>
            </a:r>
            <a:endParaRPr lang="en-US" sz="2500" dirty="0"/>
          </a:p>
        </p:txBody>
      </p:sp>
      <p:pic>
        <p:nvPicPr>
          <p:cNvPr id="4" name="Image 0" descr="/Users/jhon/Documents/PROYECTO CALIDAD DE SOFTWARE/CALIDAD/Sprint-2/diagramas/modelo-de-da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91154" y="1353312"/>
            <a:ext cx="7070651" cy="480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59618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Prisma/PostgreSQL · ClientContract es precondición técnica de creación de pedido.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46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origen al expediente de exportación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920240"/>
            <a:ext cx="1572768" cy="185623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121408"/>
            <a:ext cx="384048" cy="384048"/>
          </a:xfrm>
          <a:prstGeom prst="ellipse">
            <a:avLst/>
          </a:prstGeom>
          <a:solidFill>
            <a:srgbClr val="3465E9"/>
          </a:solidFill>
          <a:ln w="12700">
            <a:solidFill>
              <a:srgbClr val="346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26883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1363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Variedad y origen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57984" y="2834640"/>
            <a:ext cx="256032" cy="0"/>
          </a:xfrm>
          <a:prstGeom prst="line">
            <a:avLst/>
          </a:prstGeom>
          <a:noFill/>
          <a:ln w="25400">
            <a:solidFill>
              <a:srgbClr val="F05A24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468880" y="1920240"/>
            <a:ext cx="1572768" cy="185623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33472" y="2121408"/>
            <a:ext cx="384048" cy="384048"/>
          </a:xfrm>
          <a:prstGeom prst="ellipse">
            <a:avLst/>
          </a:prstGeom>
          <a:solidFill>
            <a:srgbClr val="3465E9"/>
          </a:solidFill>
          <a:ln w="12700">
            <a:solidFill>
              <a:srgbClr val="346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21945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633472" y="26883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33472" y="31363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Peso y trazabilidad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059936" y="2834640"/>
            <a:ext cx="256032" cy="0"/>
          </a:xfrm>
          <a:prstGeom prst="line">
            <a:avLst/>
          </a:prstGeom>
          <a:noFill/>
          <a:ln w="25400">
            <a:solidFill>
              <a:srgbClr val="F05A24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70832" y="1920240"/>
            <a:ext cx="1572768" cy="185623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35424" y="2121408"/>
            <a:ext cx="384048" cy="384048"/>
          </a:xfrm>
          <a:prstGeom prst="ellipse">
            <a:avLst/>
          </a:prstGeom>
          <a:solidFill>
            <a:srgbClr val="3465E9"/>
          </a:solidFill>
          <a:ln w="12700">
            <a:solidFill>
              <a:srgbClr val="346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35424" y="21945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535424" y="26883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35424" y="31363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VAT y contrato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61888" y="2834640"/>
            <a:ext cx="256032" cy="0"/>
          </a:xfrm>
          <a:prstGeom prst="line">
            <a:avLst/>
          </a:prstGeom>
          <a:noFill/>
          <a:ln w="25400">
            <a:solidFill>
              <a:srgbClr val="F05A24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72784" y="1920240"/>
            <a:ext cx="1572768" cy="185623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37376" y="2121408"/>
            <a:ext cx="384048" cy="384048"/>
          </a:xfrm>
          <a:prstGeom prst="ellipse">
            <a:avLst/>
          </a:prstGeom>
          <a:solidFill>
            <a:srgbClr val="3465E9"/>
          </a:solidFill>
          <a:ln w="12700">
            <a:solidFill>
              <a:srgbClr val="346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37376" y="21945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37376" y="26883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37376" y="31363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Líneas e Incoterm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863840" y="2834640"/>
            <a:ext cx="256032" cy="0"/>
          </a:xfrm>
          <a:prstGeom prst="line">
            <a:avLst/>
          </a:prstGeom>
          <a:noFill/>
          <a:ln w="25400">
            <a:solidFill>
              <a:srgbClr val="F05A24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174736" y="1920240"/>
            <a:ext cx="1572768" cy="185623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39328" y="2121408"/>
            <a:ext cx="384048" cy="384048"/>
          </a:xfrm>
          <a:prstGeom prst="ellipse">
            <a:avLst/>
          </a:prstGeom>
          <a:solidFill>
            <a:srgbClr val="3465E9"/>
          </a:solidFill>
          <a:ln w="12700">
            <a:solidFill>
              <a:srgbClr val="346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39328" y="21945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39328" y="26883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339328" y="31363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Aprobar / rechazar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765792" y="2834640"/>
            <a:ext cx="256032" cy="0"/>
          </a:xfrm>
          <a:prstGeom prst="line">
            <a:avLst/>
          </a:prstGeom>
          <a:noFill/>
          <a:ln w="25400">
            <a:solidFill>
              <a:srgbClr val="F05A2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0076688" y="1920240"/>
            <a:ext cx="1572768" cy="1856232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6DEE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41280" y="2121408"/>
            <a:ext cx="384048" cy="384048"/>
          </a:xfrm>
          <a:prstGeom prst="ellipse">
            <a:avLst/>
          </a:prstGeom>
          <a:solidFill>
            <a:srgbClr val="3465E9"/>
          </a:solidFill>
          <a:ln w="12700">
            <a:solidFill>
              <a:srgbClr val="346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0" y="219456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0241280" y="2688336"/>
            <a:ext cx="1298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241280" y="3136392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Proforma y packing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14400" y="4645152"/>
            <a:ext cx="10287000" cy="768096"/>
          </a:xfrm>
          <a:prstGeom prst="roundRect">
            <a:avLst>
              <a:gd name="adj" fmla="val 11905"/>
            </a:avLst>
          </a:prstGeom>
          <a:solidFill>
            <a:srgbClr val="E8F3EF"/>
          </a:solidFill>
          <a:ln w="12700">
            <a:solidFill>
              <a:srgbClr val="C4D6C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43000" y="482803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6B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Validaciones demostradas: contrato activo · cantidad ≤ peso del lote · aprobación auditada · archivos vinculados a expediente.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46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Documentos: descarga, relación e historial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536192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36192"/>
            <a:ext cx="64008" cy="1417320"/>
          </a:xfrm>
          <a:prstGeom prst="rect">
            <a:avLst/>
          </a:prstGeom>
          <a:solidFill>
            <a:srgbClr val="3465E9"/>
          </a:solidFill>
          <a:ln w="12700">
            <a:solidFill>
              <a:srgbClr val="3465E9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64208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Proforma · RTE-28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02082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desde pedido; número secuencial y registro en historial. Envío por email pendiente de SMTP aprobado.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36192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536192"/>
            <a:ext cx="64008" cy="1417320"/>
          </a:xfrm>
          <a:prstGeom prst="rect">
            <a:avLst/>
          </a:prstGeom>
          <a:solidFill>
            <a:srgbClr val="F05A24"/>
          </a:solidFill>
          <a:ln w="12700">
            <a:solidFill>
              <a:srgbClr val="F05A2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664208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Packing list · RTE-30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020824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 bultos y dimensiones antes de generar. Requiere pedido aprobado, envío y datos completos.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310128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310128"/>
            <a:ext cx="64008" cy="1417320"/>
          </a:xfrm>
          <a:prstGeom prst="rect">
            <a:avLst/>
          </a:prstGeom>
          <a:solidFill>
            <a:srgbClr val="1C6B4A"/>
          </a:solidFill>
          <a:ln w="12700">
            <a:solidFill>
              <a:srgbClr val="1C6B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438144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Fitosanitario · RTE-31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37947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Emisor, fechas, lote/envío, adjunto descargable y filtros por vencimiento/fechas.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310128"/>
            <a:ext cx="516636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3310128"/>
            <a:ext cx="64008" cy="1417320"/>
          </a:xfrm>
          <a:prstGeom prst="rect">
            <a:avLst/>
          </a:prstGeom>
          <a:solidFill>
            <a:srgbClr val="3465E9"/>
          </a:solidFill>
          <a:ln w="12700">
            <a:solidFill>
              <a:srgbClr val="3465E9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3438144"/>
            <a:ext cx="48188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 · RTE-32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3794760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Formato permitido por destino, producto/lote, envío y archivo PDF histórico.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6235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archivos utilizados en pruebas están rotulados como sintéticos y no tienen validez oficial.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46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y honestidad del estado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85800" y="1444752"/>
            <a:ext cx="501091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44752"/>
            <a:ext cx="64008" cy="1143000"/>
          </a:xfrm>
          <a:prstGeom prst="rect">
            <a:avLst/>
          </a:prstGeom>
          <a:solidFill>
            <a:srgbClr val="1C6B4A"/>
          </a:solidFill>
          <a:ln w="12700">
            <a:solidFill>
              <a:srgbClr val="1C6B4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727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1929384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72200" y="1444752"/>
            <a:ext cx="501091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0" y="1444752"/>
            <a:ext cx="64008" cy="1143000"/>
          </a:xfrm>
          <a:prstGeom prst="rect">
            <a:avLst/>
          </a:prstGeom>
          <a:solidFill>
            <a:srgbClr val="1C6B4A"/>
          </a:solidFill>
          <a:ln w="12700">
            <a:solidFill>
              <a:srgbClr val="1C6B4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157276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web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55080" y="1929384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2953512"/>
            <a:ext cx="501091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953512"/>
            <a:ext cx="64008" cy="1143000"/>
          </a:xfrm>
          <a:prstGeom prst="rect">
            <a:avLst/>
          </a:prstGeom>
          <a:solidFill>
            <a:srgbClr val="3465E9"/>
          </a:solidFill>
          <a:ln w="12700">
            <a:solidFill>
              <a:srgbClr val="3465E9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081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Jest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" y="3438144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suites · 23 tests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2953512"/>
            <a:ext cx="5010912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0" y="2953512"/>
            <a:ext cx="64008" cy="1143000"/>
          </a:xfrm>
          <a:prstGeom prst="rect">
            <a:avLst/>
          </a:prstGeom>
          <a:solidFill>
            <a:srgbClr val="F05A24"/>
          </a:solidFill>
          <a:ln w="12700">
            <a:solidFill>
              <a:srgbClr val="F05A2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308152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Pruebas smoke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5080" y="3438144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Flujos API/UI seleccionados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" y="4754880"/>
            <a:ext cx="10515600" cy="841248"/>
          </a:xfrm>
          <a:prstGeom prst="roundRect">
            <a:avLst>
              <a:gd name="adj" fmla="val 13043"/>
            </a:avLst>
          </a:prstGeom>
          <a:solidFill>
            <a:srgbClr val="FFF4D6"/>
          </a:solidFill>
          <a:ln w="12700">
            <a:solidFill>
              <a:srgbClr val="E8CF9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7552" y="4956048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67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Jira: 14 historias Finalizadas · RTE-28 en curso por la integración de email/SMTP.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" y="5870448"/>
            <a:ext cx="10424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matriz Excel marca PENDIENTE cuando no se ejecutó; no se presenta como fallo ni como aprobación.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46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Guion de demostración · 10:00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426464"/>
          <a:ext cx="10789920" cy="4553712"/>
        </p:xfrm>
        <a:graphic>
          <a:graphicData uri="http://schemas.openxmlformats.org/drawingml/2006/table">
            <a:tbl>
              <a:tblPr/>
              <a:tblGrid>
                <a:gridCol w="1874520"/>
                <a:gridCol w="4754880"/>
                <a:gridCol w="41605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Tiempo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Contenido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Apoyo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00:00–01:00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Propósito, alcance y roles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Slide 1–2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01:00–02:15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Casos de uso y entidades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Slide 3–4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02:15–03:15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Catálogo, lote e inventario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Demo: productos → lotes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03:15–04:30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Cliente, VAT, contacto y contrato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Demo: directorio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04:30–06:15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Pedido, asignación, embalaje y decisión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Demo: borrador → revisión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06:15–08:15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PDFs, certificados y versiones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Demo: expediente documental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08:15–09:20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Matriz de pruebas y estados Jira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Solo evidencia verificada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09:20–10:00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Conclusión y siguientes pasos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933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SMTP / filtros pendientes</a:t>
                      </a:r>
                      <a:endParaRPr lang="en-US" sz="11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6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6080760"/>
            <a:ext cx="10424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presentación no excede 10 minutos; dejar el prototipo ya iniciado y los datos QA claramente identificados.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502920"/>
            <a:ext cx="5760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46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2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1109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spc="-50" kern="0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Entrega, responsables y límites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508760"/>
            <a:ext cx="64008" cy="1280160"/>
          </a:xfrm>
          <a:prstGeom prst="rect">
            <a:avLst/>
          </a:prstGeom>
          <a:solidFill>
            <a:srgbClr val="F05A24"/>
          </a:solidFill>
          <a:ln w="12700">
            <a:solidFill>
              <a:srgbClr val="F05A24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3677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 de entrega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19933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de septiembre de 2026 · antes de las 2:00 p. 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63640" y="1508760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508760"/>
            <a:ext cx="64008" cy="1280160"/>
          </a:xfrm>
          <a:prstGeom prst="rect">
            <a:avLst/>
          </a:prstGeom>
          <a:solidFill>
            <a:srgbClr val="3465E9"/>
          </a:solidFill>
          <a:ln w="12700">
            <a:solidFill>
              <a:srgbClr val="3465E9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636776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46520" y="19933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Requisitos, diagrama UML, modelo de datos y matriz Excel están en CALIDAD/Sprint-2.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127248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3127248"/>
            <a:ext cx="64008" cy="1280160"/>
          </a:xfrm>
          <a:prstGeom prst="rect">
            <a:avLst/>
          </a:prstGeom>
          <a:solidFill>
            <a:srgbClr val="1C6B4A"/>
          </a:solidFill>
          <a:ln w="12700">
            <a:solidFill>
              <a:srgbClr val="1C6B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25526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Aportes individuales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" y="3611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distribución Jira es un supuesto separado; requiere validación de cada integrante.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63640" y="3127248"/>
            <a:ext cx="512064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0160">
            <a:solidFill>
              <a:srgbClr val="D6DEE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3127248"/>
            <a:ext cx="64008" cy="1280160"/>
          </a:xfrm>
          <a:prstGeom prst="rect">
            <a:avLst/>
          </a:prstGeom>
          <a:solidFill>
            <a:srgbClr val="F05A24"/>
          </a:solidFill>
          <a:ln w="12700">
            <a:solidFill>
              <a:srgbClr val="F05A24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3255264"/>
            <a:ext cx="4773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Límites del prototipo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361188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VAT por formato, almacenamiento local y formatos de certificado configurados; confirmar antes de usar datos reales.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23036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Cierre: mostrar lo construido, leer los resultados de prueba y dejar explícitos los pendientes.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537960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6708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RiTech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RiTech Export Desk · Sprint 2</dc:title>
  <dc:subject>Resumen de requisitos, diseño, pruebas y demostración del Sprint 2</dc:subject>
  <dc:creator>RiTech · Equipo de Calidad de Software</dc:creator>
  <cp:lastModifiedBy>RiTech · Equipo de Calidad de Software</cp:lastModifiedBy>
  <cp:revision>1</cp:revision>
  <dcterms:created xsi:type="dcterms:W3CDTF">2026-09-28T01:54:22Z</dcterms:created>
  <dcterms:modified xsi:type="dcterms:W3CDTF">2026-09-28T01:54:22Z</dcterms:modified>
</cp:coreProperties>
</file>